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22D3EE"/>
                </a:solidFill>
                <a:latin typeface="Calibri"/>
              </a:rPr>
              <a:t>SPACE OUT — SPACE INNOVATION IDEATHON 2026 ·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7132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6300" b="1">
                <a:solidFill>
                  <a:srgbClr val="FFFFFF"/>
                </a:solidFill>
                <a:latin typeface="Calibri"/>
              </a:rPr>
              <a:t>EARTHPULSE</a:t>
            </a:r>
          </a:p>
          <a:p>
            <a:pPr algn="l">
              <a:lnSpc>
                <a:spcPct val="102000"/>
              </a:lnSpc>
            </a:pPr>
            <a:r>
              <a:rPr sz="6300" b="1">
                <a:solidFill>
                  <a:srgbClr val="22D3EE"/>
                </a:solidFill>
                <a:latin typeface="Calibri"/>
              </a:rPr>
              <a:t>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5C044"/>
                </a:solidFill>
                <a:latin typeface="Calibri"/>
              </a:rPr>
              <a:t>One Portal. Five Disasters. Live, Verified — In Your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6583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C7D2E8"/>
                </a:solidFill>
                <a:latin typeface="Calibri"/>
              </a:rPr>
              <a:t>A live disaster-information platform for India — five dedicated websites, official data, speaking assistants and a safety system that never sleeps.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5780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11204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5838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TEAM  PROJECT SENTINEL</a:t>
            </a:r>
          </a:p>
        </p:txBody>
      </p:sp>
      <p:pic>
        <p:nvPicPr>
          <p:cNvPr id="10" name="Picture 9" descr="glob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960120"/>
            <a:ext cx="416052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35240" y="525780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8FA3C8"/>
                </a:solidFill>
                <a:latin typeface="Calibri"/>
              </a:rPr>
              <a:t>LIVE 3D GLOBE — ROTATING MODEL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When Disaster Strikes, Information Saves Lives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28800"/>
            <a:ext cx="1068019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Scattered sources.  </a:t>
            </a:r>
            <a:r>
              <a:rPr sz="1800" b="0">
                <a:solidFill>
                  <a:srgbClr val="C7D2E8"/>
                </a:solidFill>
                <a:latin typeface="Calibri"/>
              </a:rPr>
              <a:t>Every hazard's official data lives on a different portal, in a different format — fire, flood, cyclone, landslide and cold wave are never seen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8833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88336"/>
            <a:ext cx="1068019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Language gap.  </a:t>
            </a:r>
            <a:r>
              <a:rPr sz="1800" b="0">
                <a:solidFill>
                  <a:srgbClr val="C7D2E8"/>
                </a:solidFill>
                <a:latin typeface="Calibri"/>
              </a:rPr>
              <a:t>Warnings are published in one or two languages, while the people at risk speak many more — so alerts often never truly reach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4787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47872"/>
            <a:ext cx="1068019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Old news, shared as live.  </a:t>
            </a:r>
            <a:r>
              <a:rPr sz="1800" b="0">
                <a:solidFill>
                  <a:srgbClr val="C7D2E8"/>
                </a:solidFill>
                <a:latin typeface="Calibri"/>
              </a:rPr>
              <a:t>Outdated reports are forwarded as if they were happening now, creating panic in one place and silence in another.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0740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407408"/>
            <a:ext cx="1068019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No single live picture.  </a:t>
            </a:r>
            <a:r>
              <a:rPr sz="1800" b="0">
                <a:solidFill>
                  <a:srgbClr val="C7D2E8"/>
                </a:solidFill>
                <a:latin typeface="Calibri"/>
              </a:rPr>
              <a:t>There is no one place that shows what is happening across India right now — verified, dated and in your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486400"/>
            <a:ext cx="3474720" cy="86868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1441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C044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7607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major hazards, every 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486400"/>
            <a:ext cx="3474720" cy="86868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561441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C044"/>
                </a:solidFill>
                <a:latin typeface="Calibr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57607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languages on the platform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5486400"/>
            <a:ext cx="3474720" cy="86868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561441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C044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7607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portal for all of India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EarthPulse India — One Portal, Five Dedicated Websites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50" b="0">
                <a:solidFill>
                  <a:srgbClr val="C7D2E8"/>
                </a:solidFill>
                <a:latin typeface="Calibri"/>
              </a:rPr>
              <a:t>A single sign-in opens a portal of five focused websites — one per hazard — each with its own live data, maps, verified history and a speaking assistant that knows only its own disaster, deeply.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2606040"/>
            <a:ext cx="4114800" cy="777240"/>
          </a:xfrm>
          <a:prstGeom prst="roundRect">
            <a:avLst>
              <a:gd name="adj" fmla="val 8000"/>
            </a:avLst>
          </a:prstGeom>
          <a:solidFill>
            <a:srgbClr val="112042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279806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EARTHPULSE INDIA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33649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>
                <a:solidFill>
                  <a:srgbClr val="22D3EE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133087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0">
                <a:solidFill>
                  <a:srgbClr val="C7D2E8"/>
                </a:solidFill>
                <a:latin typeface="Calibri"/>
              </a:rPr>
              <a:t>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8172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FOREST 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2920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22D3EE"/>
                </a:solidFill>
                <a:latin typeface="Calibri"/>
              </a:rPr>
              <a:t>Assistant: Agni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3492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8FA3C8"/>
                </a:solidFill>
                <a:latin typeface="Calibri"/>
              </a:rPr>
              <a:t>Live satellite hotspots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7208" y="3977639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4133087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0">
                <a:solidFill>
                  <a:srgbClr val="C7D2E8"/>
                </a:solidFill>
                <a:latin typeface="Calibri"/>
              </a:rPr>
              <a:t>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468172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FLOOD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502920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22D3EE"/>
                </a:solidFill>
                <a:latin typeface="Calibri"/>
              </a:rPr>
              <a:t>Assistant: Jal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53492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8FA3C8"/>
                </a:solidFill>
                <a:latin typeface="Calibri"/>
              </a:rPr>
              <a:t>River levels &amp; warnings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1496" y="3977639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4133087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0">
                <a:solidFill>
                  <a:srgbClr val="C7D2E8"/>
                </a:solidFill>
                <a:latin typeface="Calibri"/>
              </a:rPr>
              <a:t>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468172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LANDSLIDE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502920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22D3EE"/>
                </a:solidFill>
                <a:latin typeface="Calibri"/>
              </a:rPr>
              <a:t>Assistant: Bhumi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53492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8FA3C8"/>
                </a:solidFill>
                <a:latin typeface="Calibri"/>
              </a:rPr>
              <a:t>Risk forecasts &amp;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5784" y="3977639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784" y="4133087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0">
                <a:solidFill>
                  <a:srgbClr val="C7D2E8"/>
                </a:solidFill>
                <a:latin typeface="Calibri"/>
              </a:rPr>
              <a:t>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4" y="468172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COLD WAVE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4" y="502920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22D3EE"/>
                </a:solidFill>
                <a:latin typeface="Calibri"/>
              </a:rPr>
              <a:t>Assistant: Him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4" y="53492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8FA3C8"/>
                </a:solidFill>
                <a:latin typeface="Calibri"/>
              </a:rPr>
              <a:t>IMD cold-wave warnings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20072" y="3977639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0072" y="4133087"/>
            <a:ext cx="212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0">
                <a:solidFill>
                  <a:srgbClr val="C7D2E8"/>
                </a:solidFill>
                <a:latin typeface="Calibri"/>
              </a:rPr>
              <a:t>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468172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CYCLONE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502920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22D3EE"/>
                </a:solidFill>
                <a:latin typeface="Calibri"/>
              </a:rPr>
              <a:t>Assistant: Vayu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534924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8FA3C8"/>
                </a:solidFill>
                <a:latin typeface="Calibri"/>
              </a:rPr>
              <a:t>Storm tracking &amp; landfall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INSIDE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What Each Website Carries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82296" cy="713232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Agni — Forest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901952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Live NASA satellite hotspots on a 3D globe, fire history since 1979, spread awareness.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24328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24328"/>
            <a:ext cx="82296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1576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Jal — Flood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74320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Central Water Commission river levels, warning and danger stations, flood archive since 1908.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65576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65576"/>
            <a:ext cx="82296" cy="71323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57016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Bhumi — Landslide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8444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GSI risk forecasts with rainfall triggers, district alerts, verified landslide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06824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306824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Him — Cold Wave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425696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IMD cold-wave warnings, minimum-temperature tracking, protection guidance.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48072"/>
            <a:ext cx="10835640" cy="713232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148072"/>
            <a:ext cx="82296" cy="713232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39512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Vayu — Cyclone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266944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IMD / RSMC storm tracking, landfall forecasts, cyclone history since 1971.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035040"/>
            <a:ext cx="10835640" cy="566928"/>
          </a:xfrm>
          <a:prstGeom prst="roundRect">
            <a:avLst>
              <a:gd name="adj" fmla="val 8000"/>
            </a:avLst>
          </a:prstGeom>
          <a:solidFill>
            <a:srgbClr val="112042"/>
          </a:solidFill>
          <a:ln w="12700">
            <a:solidFill>
              <a:srgbClr val="F5C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172200"/>
            <a:ext cx="10835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F5C044"/>
                </a:solidFill>
                <a:latin typeface="Calibri"/>
              </a:rPr>
              <a:t>275 VERIFIED HISTORICAL RECORDS  ·  EVERY RECORD CITES ITS SOURCE  ·  LIVE 3D GLOBE + 2D ARCHIVE MAPS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THE LIVING GLOBE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A Globe That Shows Only What Is Happening Now</a:t>
            </a:r>
          </a:p>
        </p:txBody>
      </p:sp>
      <p:pic>
        <p:nvPicPr>
          <p:cNvPr id="6" name="Picture 5" descr="glob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4114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0" y="19659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4688" y="1965960"/>
            <a:ext cx="601675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>
                <a:solidFill>
                  <a:srgbClr val="FFFFFF"/>
                </a:solidFill>
                <a:latin typeface="Calibri"/>
              </a:rPr>
              <a:t>Live means live.  </a:t>
            </a:r>
            <a:r>
              <a:rPr sz="1750" b="0">
                <a:solidFill>
                  <a:srgbClr val="C7D2E8"/>
                </a:solidFill>
                <a:latin typeface="Calibri"/>
              </a:rPr>
              <a:t>The home globe shows only the present — for forest fire, detections from the last 24 hours, each with its date, time and 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0175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3017520"/>
            <a:ext cx="601675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>
                <a:solidFill>
                  <a:srgbClr val="FFFFFF"/>
                </a:solidFill>
                <a:latin typeface="Calibri"/>
              </a:rPr>
              <a:t>Calm when safe.  </a:t>
            </a:r>
            <a:r>
              <a:rPr sz="1750" b="0">
                <a:solidFill>
                  <a:srgbClr val="C7D2E8"/>
                </a:solidFill>
                <a:latin typeface="Calibri"/>
              </a:rPr>
              <a:t>When nothing is happening, the globe stays calm. Old records never appear on it — a quiet globe itself is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069079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4069079"/>
            <a:ext cx="601675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>
                <a:solidFill>
                  <a:srgbClr val="FFFFFF"/>
                </a:solidFill>
                <a:latin typeface="Calibri"/>
              </a:rPr>
              <a:t>History lives elsewhere.  </a:t>
            </a:r>
            <a:r>
              <a:rPr sz="1750" b="0">
                <a:solidFill>
                  <a:srgbClr val="C7D2E8"/>
                </a:solidFill>
                <a:latin typeface="Calibri"/>
              </a:rPr>
              <a:t>The past is preserved on a separate 2D archive map, so 'now' and 'then' are never confused.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ASSISTANCE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Assistants That Speak Your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28800"/>
            <a:ext cx="6016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Five specialists.  </a:t>
            </a:r>
            <a:r>
              <a:rPr sz="1650" b="0">
                <a:solidFill>
                  <a:srgbClr val="C7D2E8"/>
                </a:solidFill>
                <a:latin typeface="Calibri"/>
              </a:rPr>
              <a:t>Each website has its own assistant — Agni, Jal, Bhumi, Him and Vayu — trained on its own hazard's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43200"/>
            <a:ext cx="6016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13 languages.  </a:t>
            </a:r>
            <a:r>
              <a:rPr sz="1650" b="0">
                <a:solidFill>
                  <a:srgbClr val="C7D2E8"/>
                </a:solidFill>
                <a:latin typeface="Calibri"/>
              </a:rPr>
              <a:t>The whole website and the assistant switch instantly — including right-to-left Urdu.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657600"/>
            <a:ext cx="6016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Voice, both ways.  </a:t>
            </a:r>
            <a:r>
              <a:rPr sz="1650" b="0">
                <a:solidFill>
                  <a:srgbClr val="C7D2E8"/>
                </a:solidFill>
                <a:latin typeface="Calibri"/>
              </a:rPr>
              <a:t>Ask by speaking; answers are read aloud, with a mute control always in reach.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572000"/>
            <a:ext cx="6016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Real conversations.  </a:t>
            </a:r>
            <a:r>
              <a:rPr sz="1650" b="0">
                <a:solidFill>
                  <a:srgbClr val="C7D2E8"/>
                </a:solidFill>
                <a:latin typeface="Calibri"/>
              </a:rPr>
              <a:t>Follow-up questions are understood, and records arrive as tappable chips.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783080"/>
            <a:ext cx="4206240" cy="4297680"/>
          </a:xfrm>
          <a:prstGeom prst="roundRect">
            <a:avLst>
              <a:gd name="adj" fmla="val 8000"/>
            </a:avLst>
          </a:prstGeom>
          <a:solidFill>
            <a:srgbClr val="2A0E14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9659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87171"/>
                </a:solidFill>
                <a:latin typeface="Calibri"/>
              </a:rPr>
              <a:t>SOS — SAFETY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5146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87171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2514600"/>
            <a:ext cx="341071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Glows ONLY on a genuine, live, life-risk signal — and names the place at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41071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87171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3410712"/>
            <a:ext cx="341071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One tap opens big helpline numbers — tapping a number calls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30682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87171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4306824"/>
            <a:ext cx="3410712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112 · 108 · 101 · 100 · 1078 — with a siren and a clear mute control.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Where the Data Comes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658368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FOREST FIRE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29384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NASA FIRMS — satellite hotspots from VIIRS &amp; MODIS instruments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9464"/>
            <a:ext cx="10835640" cy="658368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FLOOD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15768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Central Water Commission — river-level bulletins, warning &amp; danger stations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55848"/>
            <a:ext cx="10835640" cy="658368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11296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CYCLONE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02152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IMD / RSMC New Delhi — cyclone tracks, forecasts and landfall warnings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42232"/>
            <a:ext cx="10835640" cy="658368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LANDSLIDE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288536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Geological Survey of India forecasts, combined with IMD rainfall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28616"/>
            <a:ext cx="10835640" cy="658368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84064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COLD WAVE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074920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India Meteorological Department — cold-wave warnings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788152"/>
            <a:ext cx="10835640" cy="777240"/>
          </a:xfrm>
          <a:prstGeom prst="roundRect">
            <a:avLst>
              <a:gd name="adj" fmla="val 8000"/>
            </a:avLst>
          </a:prstGeom>
          <a:solidFill>
            <a:srgbClr val="112042"/>
          </a:solidFill>
          <a:ln w="12700">
            <a:solidFill>
              <a:srgbClr val="F5C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16168"/>
            <a:ext cx="10378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F5C044"/>
                </a:solidFill>
                <a:latin typeface="Calibri"/>
              </a:rPr>
              <a:t>Honesty rule:  </a:t>
            </a:r>
            <a:r>
              <a:rPr sz="1450" b="0">
                <a:solidFill>
                  <a:srgbClr val="C7D2E8"/>
                </a:solidFill>
                <a:latin typeface="Calibri"/>
              </a:rPr>
              <a:t>every record is verified against its source before it is added, and every record panel carries a “Source — read the original report” button. Event media is credited, or honestly noted when none exists.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How the Website Updates Itself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121408" cy="164592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48256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5C04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542032"/>
            <a:ext cx="1975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OFFICIAL
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127248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8FA3C8"/>
                </a:solidFill>
                <a:latin typeface="Calibri"/>
              </a:rPr>
              <a:t>NASA · CWC · IMD · GSI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5146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920240"/>
            <a:ext cx="2121408" cy="164592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048256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5C0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542032"/>
            <a:ext cx="1975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AUTOMATIC FETCH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127248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8FA3C8"/>
                </a:solidFill>
                <a:latin typeface="Calibri"/>
              </a:rPr>
              <a:t>Every 6 hours, on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25146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920240"/>
            <a:ext cx="2121408" cy="164592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2048256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5C044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542032"/>
            <a:ext cx="1975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127248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8FA3C8"/>
                </a:solidFill>
                <a:latin typeface="Calibri"/>
              </a:rPr>
              <a:t>Checked before publishing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25146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5784" y="1920240"/>
            <a:ext cx="2121408" cy="164592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784" y="2048256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5C04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542032"/>
            <a:ext cx="1975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127248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8FA3C8"/>
                </a:solidFill>
                <a:latin typeface="Calibri"/>
              </a:rPr>
              <a:t>Live layers refreshed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5146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0072" y="1920240"/>
            <a:ext cx="2121408" cy="164592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2048256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F5C044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2542032"/>
            <a:ext cx="19751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FFFFFF"/>
                </a:solidFill>
                <a:latin typeface="Calibri"/>
              </a:rPr>
              <a:t>LIVE WEBSITE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3224" y="3127248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8FA3C8"/>
                </a:solidFill>
                <a:latin typeface="Calibri"/>
              </a:rPr>
              <a:t>Always current, always 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069080"/>
            <a:ext cx="106801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Only live layers refresh.  </a:t>
            </a:r>
            <a:r>
              <a:rPr sz="1700" b="0">
                <a:solidFill>
                  <a:srgbClr val="C7D2E8"/>
                </a:solidFill>
                <a:latin typeface="Calibri"/>
              </a:rPr>
              <a:t>The historical archive is never auto-edited — new records are added only after source verification.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463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4846320"/>
            <a:ext cx="106801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Failure-safe.  </a:t>
            </a:r>
            <a:r>
              <a:rPr sz="1700" b="0">
                <a:solidFill>
                  <a:srgbClr val="C7D2E8"/>
                </a:solidFill>
                <a:latin typeface="Calibri"/>
              </a:rPr>
              <a:t>If a source is down, the previous data stays — with its date clearly shown. Nothing is ever guessed or fabricated.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USER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Sign Up Once — Built to Scale to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28800"/>
            <a:ext cx="6473952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One account, every device.  </a:t>
            </a:r>
            <a:r>
              <a:rPr sz="1650" b="0">
                <a:solidFill>
                  <a:srgbClr val="C7D2E8"/>
                </a:solidFill>
                <a:latin typeface="Calibri"/>
              </a:rPr>
              <a:t>Sign up once with an email and password — the same account works on phone, laptop and desktop.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163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816352"/>
            <a:ext cx="6473952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Where the data lives.  </a:t>
            </a:r>
            <a:r>
              <a:rPr sz="1650" b="0">
                <a:solidFill>
                  <a:srgbClr val="C7D2E8"/>
                </a:solidFill>
                <a:latin typeface="Calibri"/>
              </a:rPr>
              <a:t>Firebase Authentication manages sign-ins; profiles are stored in Cloud Firestore, region asia-south1 (Mumbai).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0390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803904"/>
            <a:ext cx="6473952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Private by design.  </a:t>
            </a:r>
            <a:r>
              <a:rPr sz="1650" b="0">
                <a:solidFill>
                  <a:srgbClr val="C7D2E8"/>
                </a:solidFill>
                <a:latin typeface="Calibri"/>
              </a:rPr>
              <a:t>Security rules guarantee every user can access only their own account data — accounts stay private even with millions of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9145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791456"/>
            <a:ext cx="6473952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Effortless recovery.  </a:t>
            </a:r>
            <a:r>
              <a:rPr sz="1650" b="0">
                <a:solidFill>
                  <a:srgbClr val="C7D2E8"/>
                </a:solidFill>
                <a:latin typeface="Calibri"/>
              </a:rPr>
              <a:t>Forgot your password? A reset link arrives by email — no support desk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828800"/>
            <a:ext cx="3703320" cy="3977639"/>
          </a:xfrm>
          <a:prstGeom prst="roundRect">
            <a:avLst>
              <a:gd name="adj" fmla="val 8000"/>
            </a:avLst>
          </a:prstGeom>
          <a:solidFill>
            <a:srgbClr val="112042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057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WHY IT SCALES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06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5C044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06040"/>
            <a:ext cx="295351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Runs on Google's cloud infrastructure — the same system serves a hundred users or millions, with no redesign.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0233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5C044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023360"/>
            <a:ext cx="295351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C7D2E8"/>
                </a:solidFill>
                <a:latin typeface="Calibri"/>
              </a:rPr>
              <a:t>Starts on the free tier; capacity grows automatically with demand.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ACCESS FOR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Built for Every Phone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28800"/>
            <a:ext cx="106801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>
                <a:solidFill>
                  <a:srgbClr val="FFFFFF"/>
                </a:solidFill>
                <a:latin typeface="Calibri"/>
              </a:rPr>
              <a:t>Installable app, zero cost.  </a:t>
            </a:r>
            <a:r>
              <a:rPr sz="1750" b="0">
                <a:solidFill>
                  <a:srgbClr val="C7D2E8"/>
                </a:solidFill>
                <a:latin typeface="Calibri"/>
              </a:rPr>
              <a:t>EarthPulse installs as an app (PWA) from the browser — no Play Store, no fees, straight to the home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00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70048"/>
            <a:ext cx="106801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>
                <a:solidFill>
                  <a:srgbClr val="FFFFFF"/>
                </a:solidFill>
                <a:latin typeface="Calibri"/>
              </a:rPr>
              <a:t>Android and desktop.  </a:t>
            </a:r>
            <a:r>
              <a:rPr sz="1750" b="0">
                <a:solidFill>
                  <a:srgbClr val="C7D2E8"/>
                </a:solidFill>
                <a:latin typeface="Calibri"/>
              </a:rPr>
              <a:t>One tap on the dashboard's Download App button installs it on Android phones and desktop Chrome alike.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1129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11296"/>
            <a:ext cx="106801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>
                <a:solidFill>
                  <a:srgbClr val="FFFFFF"/>
                </a:solidFill>
                <a:latin typeface="Calibri"/>
              </a:rPr>
              <a:t>13 languages.  </a:t>
            </a:r>
            <a:r>
              <a:rPr sz="1750" b="0">
                <a:solidFill>
                  <a:srgbClr val="C7D2E8"/>
                </a:solidFill>
                <a:latin typeface="Calibri"/>
              </a:rPr>
              <a:t>Every screen and every assistant speaks the user's language — including right-to-left Urdu.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5254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352544"/>
            <a:ext cx="106801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>
                <a:solidFill>
                  <a:srgbClr val="FFFFFF"/>
                </a:solidFill>
                <a:latin typeface="Calibri"/>
              </a:rPr>
              <a:t>Honest on slow networks.  </a:t>
            </a:r>
            <a:r>
              <a:rPr sz="1750" b="0">
                <a:solidFill>
                  <a:srgbClr val="C7D2E8"/>
                </a:solidFill>
                <a:latin typeface="Calibri"/>
              </a:rPr>
              <a:t>If map data hangs on a weak connection, the map retries by itself instead of staying blank.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9379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5193792"/>
            <a:ext cx="106801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>
                <a:solidFill>
                  <a:srgbClr val="FFFFFF"/>
                </a:solidFill>
                <a:latin typeface="Calibri"/>
              </a:rPr>
              <a:t>Help in one tap.  </a:t>
            </a:r>
            <a:r>
              <a:rPr sz="1750" b="0">
                <a:solidFill>
                  <a:srgbClr val="C7D2E8"/>
                </a:solidFill>
                <a:latin typeface="Calibri"/>
              </a:rPr>
              <a:t>From the SOS screen, helpline numbers are large and tappable — one touch starts the call.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57784"/>
            <a:ext cx="82296" cy="9326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2D3EE"/>
                </a:solidFill>
                <a:latin typeface="Calibri"/>
              </a:rPr>
              <a:t>IMPACT &amp;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13816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2D3EE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606040"/>
            <a:ext cx="45537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In a disaster, minutes decide outcomes — verified information must arrive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566160"/>
            <a:ext cx="45537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One trusted, always-current place for every Indian, in their own language, free forever.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4526280"/>
            <a:ext cx="45537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Built and verified on real phones, on real networks — not just in a lab.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5C044"/>
                </a:solidFill>
                <a:latin typeface="Calibri"/>
              </a:rPr>
              <a:t>ROAD AHEAD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F5C044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606040"/>
            <a:ext cx="45537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More hazards — earthquake and heatwave editions of the same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F5C044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566160"/>
            <a:ext cx="45537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District-level personalised alerts for signed-in users.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F5C044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526280"/>
            <a:ext cx="45537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C7D2E8"/>
                </a:solidFill>
                <a:latin typeface="Calibri"/>
              </a:rPr>
              <a:t>Offline alert caching for areas with the weakest connectivity.</a:t>
            </a:r>
          </a:p>
        </p:txBody>
      </p:sp>
    </p:spTree>
  </p:cSld>
  <p:transition spd="med" dur="600">
    <p:fade thruBlk="1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22D3EE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Team Project Sentinel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 w="12700">
            <a:solidFill>
              <a:srgbClr val="F5C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578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Keshav Yadav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5786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F5C044"/>
                </a:solidFill>
                <a:latin typeface="Calibri"/>
              </a:rPr>
              <a:t>Team Leader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28600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2697480"/>
            <a:ext cx="2578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Jay Agrawal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3246120"/>
            <a:ext cx="25786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8FA3C8"/>
                </a:solidFill>
                <a:latin typeface="Calibri"/>
              </a:rPr>
              <a:t>Team Member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228600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697480"/>
            <a:ext cx="2578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Gagan Laur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3246120"/>
            <a:ext cx="25786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8FA3C8"/>
                </a:solidFill>
                <a:latin typeface="Calibri"/>
              </a:rPr>
              <a:t>Team Member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2286000"/>
            <a:ext cx="2578608" cy="1828800"/>
          </a:xfrm>
          <a:prstGeom prst="roundRect">
            <a:avLst>
              <a:gd name="adj" fmla="val 8000"/>
            </a:avLst>
          </a:prstGeom>
          <a:solidFill>
            <a:srgbClr val="0D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2697480"/>
            <a:ext cx="2578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Kapil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3246120"/>
            <a:ext cx="25786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8FA3C8"/>
                </a:solidFill>
                <a:latin typeface="Calibri"/>
              </a:rPr>
              <a:t>Team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EARTHPULSE INDIA — LIVE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22D3EE"/>
                </a:solidFill>
                <a:latin typeface="Calibri"/>
              </a:rPr>
              <a:t>keshuyadav0946.github.io/earthpulse-india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8FA3C8"/>
                </a:solidFill>
                <a:latin typeface="Calibri"/>
              </a:rPr>
              <a:t>SPACE OUT — Space Innovation Ideathon 2026</a:t>
            </a:r>
          </a:p>
        </p:txBody>
      </p:sp>
    </p:spTree>
  </p:cSld>
  <p:transition spd="med" dur="600">
    <p:fade thruBlk="1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